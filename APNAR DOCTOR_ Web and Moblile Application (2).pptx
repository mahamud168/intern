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5"/>
    <p:sldMasterId id="214748367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5143500" cx="9144000"/>
  <p:notesSz cx="6858000" cy="9144000"/>
  <p:embeddedFontLst>
    <p:embeddedFont>
      <p:font typeface="Play"/>
      <p:regular r:id="rId29"/>
      <p:bold r:id="rId30"/>
    </p:embeddedFont>
    <p:embeddedFont>
      <p:font typeface="Roboto Black"/>
      <p:bold r:id="rId31"/>
      <p:boldItalic r:id="rId32"/>
    </p:embeddedFont>
    <p:embeddedFont>
      <p:font typeface="Didact Gothic"/>
      <p:regular r:id="rId33"/>
    </p:embeddedFont>
    <p:embeddedFont>
      <p:font typeface="Arial Black"/>
      <p:regular r:id="rId34"/>
    </p:embeddedFont>
    <p:embeddedFont>
      <p:font typeface="Roboto Mon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2A5578-7587-407B-82B9-178C64428658}">
  <a:tblStyle styleId="{B42A5578-7587-407B-82B9-178C6442865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lay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Black-bold.fntdata"/><Relationship Id="rId30" Type="http://schemas.openxmlformats.org/officeDocument/2006/relationships/font" Target="fonts/Play-bold.fntdata"/><Relationship Id="rId11" Type="http://schemas.openxmlformats.org/officeDocument/2006/relationships/slide" Target="slides/slide4.xml"/><Relationship Id="rId33" Type="http://schemas.openxmlformats.org/officeDocument/2006/relationships/font" Target="fonts/DidactGothic-regular.fntdata"/><Relationship Id="rId10" Type="http://schemas.openxmlformats.org/officeDocument/2006/relationships/slide" Target="slides/slide3.xml"/><Relationship Id="rId32" Type="http://schemas.openxmlformats.org/officeDocument/2006/relationships/font" Target="fonts/RobotoBlack-boldItalic.fntdata"/><Relationship Id="rId13" Type="http://schemas.openxmlformats.org/officeDocument/2006/relationships/slide" Target="slides/slide6.xml"/><Relationship Id="rId35" Type="http://schemas.openxmlformats.org/officeDocument/2006/relationships/font" Target="fonts/RobotoMono-regular.fntdata"/><Relationship Id="rId12" Type="http://schemas.openxmlformats.org/officeDocument/2006/relationships/slide" Target="slides/slide5.xml"/><Relationship Id="rId34" Type="http://schemas.openxmlformats.org/officeDocument/2006/relationships/font" Target="fonts/ArialBlack-regular.fntdata"/><Relationship Id="rId15" Type="http://schemas.openxmlformats.org/officeDocument/2006/relationships/slide" Target="slides/slide8.xml"/><Relationship Id="rId37" Type="http://schemas.openxmlformats.org/officeDocument/2006/relationships/font" Target="fonts/RobotoMono-italic.fntdata"/><Relationship Id="rId14" Type="http://schemas.openxmlformats.org/officeDocument/2006/relationships/slide" Target="slides/slide7.xml"/><Relationship Id="rId36" Type="http://schemas.openxmlformats.org/officeDocument/2006/relationships/font" Target="fonts/RobotoMono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38" Type="http://schemas.openxmlformats.org/officeDocument/2006/relationships/font" Target="fonts/RobotoMono-bold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65e8c856c_2_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e65e8c856c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e65e8c856c_2_8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65e8c856c_2_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e65e8c856c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e65e8c856c_2_9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65e8c856c_2_1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e65e8c856c_2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g3e65e8c856c_2_1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65e8c856c_2_1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e65e8c856c_2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65e8c856c_2_1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e65e8c856c_2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65e8c856c_2_1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e65e8c856c_2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65e8c856c_2_1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e65e8c856c_2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e65e8c856c_2_1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e65e8c856c_2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65e8c856c_2_1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e65e8c856c_2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g3e65e8c856c_2_16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65e8c856c_2_1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e65e8c856c_2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g3e65e8c856c_2_17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65e8c856c_4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e65e8c856c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g3e65e8c856c_4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65e8c856c_0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e65e8c856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g3e65e8c856c_0_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65e8c856c_0_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e65e8c856c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3" name="Google Shape;283;g3e65e8c856c_0_7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e65e8c856c_0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e65e8c856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g3e65e8c856c_0_5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65e8c856c_2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3e65e8c856c_2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g3e65e8c856c_2_18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65e8c856c_4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e65e8c856c_4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8" name="Google Shape;318;g3e65e8c856c_4_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e65e8c856c_2_1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e65e8c856c_2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9" name="Google Shape;329;g3e65e8c856c_2_19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e65e8c856c_2_2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g3e65e8c856c_2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0" name="Google Shape;340;g3e65e8c856c_2_20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e65e8c856c_6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g3e65e8c856c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1" name="Google Shape;351;g3e65e8c856c_6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e65e8c856c_2_2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3e65e8c856c_2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2" name="Google Shape;362;g3e65e8c856c_2_2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e65e8c856c_2_2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g3e65e8c856c_2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3" name="Google Shape;373;g3e65e8c856c_2_2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+ IMAGE">
  <p:cSld name="TITLE + TEXT + IMAG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4893699" y="1737500"/>
            <a:ext cx="35304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b="0" sz="36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4893699" y="2746375"/>
            <a:ext cx="3457499" cy="14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None/>
              <a:defRPr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None/>
              <a:defRPr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None/>
              <a:defRPr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None/>
              <a:defRPr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None/>
              <a:defRPr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None/>
              <a:defRPr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None/>
              <a:defRPr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None/>
              <a:defRPr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SOURCES">
  <p:cSld name="RESOURCE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810000" y="14781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EFFC1"/>
              </a:buClr>
              <a:buSzPts val="800"/>
              <a:buChar char="●"/>
              <a:defRPr sz="800">
                <a:solidFill>
                  <a:srgbClr val="1EFFC1"/>
                </a:solidFill>
              </a:defRPr>
            </a:lvl1pPr>
            <a:lvl2pPr indent="-279400" lvl="1" marL="914400" algn="l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○"/>
              <a:defRPr sz="800">
                <a:solidFill>
                  <a:srgbClr val="1EFFC1"/>
                </a:solidFill>
              </a:defRPr>
            </a:lvl2pPr>
            <a:lvl3pPr indent="-279400" lvl="2" marL="1371600" algn="l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■"/>
              <a:defRPr sz="800">
                <a:solidFill>
                  <a:srgbClr val="1EFFC1"/>
                </a:solidFill>
              </a:defRPr>
            </a:lvl3pPr>
            <a:lvl4pPr indent="-279400" lvl="3" marL="1828800" algn="l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●"/>
              <a:defRPr sz="800">
                <a:solidFill>
                  <a:srgbClr val="1EFFC1"/>
                </a:solidFill>
              </a:defRPr>
            </a:lvl4pPr>
            <a:lvl5pPr indent="-279400" lvl="4" marL="2286000" algn="l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○"/>
              <a:defRPr sz="800">
                <a:solidFill>
                  <a:srgbClr val="1EFFC1"/>
                </a:solidFill>
              </a:defRPr>
            </a:lvl5pPr>
            <a:lvl6pPr indent="-279400" lvl="5" marL="2743200" algn="l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■"/>
              <a:defRPr sz="800">
                <a:solidFill>
                  <a:srgbClr val="1EFFC1"/>
                </a:solidFill>
              </a:defRPr>
            </a:lvl6pPr>
            <a:lvl7pPr indent="-279400" lvl="6" marL="3200400" algn="l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●"/>
              <a:defRPr sz="800">
                <a:solidFill>
                  <a:srgbClr val="1EFFC1"/>
                </a:solidFill>
              </a:defRPr>
            </a:lvl7pPr>
            <a:lvl8pPr indent="-279400" lvl="7" marL="3657600" algn="l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○"/>
              <a:defRPr sz="800">
                <a:solidFill>
                  <a:srgbClr val="1EFFC1"/>
                </a:solidFill>
              </a:defRPr>
            </a:lvl8pPr>
            <a:lvl9pPr indent="-279400" lvl="8" marL="4114800" algn="l">
              <a:lnSpc>
                <a:spcPct val="114999"/>
              </a:lnSpc>
              <a:spcBef>
                <a:spcPts val="1600"/>
              </a:spcBef>
              <a:spcAft>
                <a:spcPts val="1600"/>
              </a:spcAft>
              <a:buClr>
                <a:srgbClr val="1EFFC1"/>
              </a:buClr>
              <a:buSzPts val="800"/>
              <a:buChar char="■"/>
              <a:defRPr sz="800">
                <a:solidFill>
                  <a:srgbClr val="1EFFC1"/>
                </a:solidFill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type="ctrTitle"/>
          </p:nvPr>
        </p:nvSpPr>
        <p:spPr>
          <a:xfrm>
            <a:off x="892324" y="644549"/>
            <a:ext cx="7940099" cy="60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  <a:defRPr b="0" sz="3000">
                <a:solidFill>
                  <a:srgbClr val="161234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628650" y="273844"/>
            <a:ext cx="7886699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628650" y="1369218"/>
            <a:ext cx="7886699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623888" y="1282304"/>
            <a:ext cx="7886699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623888" y="3442098"/>
            <a:ext cx="7886699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628650" y="273844"/>
            <a:ext cx="7886699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628650" y="1369218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2" type="body"/>
          </p:nvPr>
        </p:nvSpPr>
        <p:spPr>
          <a:xfrm>
            <a:off x="4629150" y="1369218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629841" y="273844"/>
            <a:ext cx="7886699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0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20"/>
          <p:cNvSpPr txBox="1"/>
          <p:nvPr>
            <p:ph idx="2" type="body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3" type="body"/>
          </p:nvPr>
        </p:nvSpPr>
        <p:spPr>
          <a:xfrm>
            <a:off x="4629150" y="1260872"/>
            <a:ext cx="388739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2" name="Google Shape;92;p20"/>
          <p:cNvSpPr txBox="1"/>
          <p:nvPr>
            <p:ph idx="4" type="body"/>
          </p:nvPr>
        </p:nvSpPr>
        <p:spPr>
          <a:xfrm>
            <a:off x="4629150" y="1878806"/>
            <a:ext cx="388739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/>
          <p:nvPr>
            <p:ph type="title"/>
          </p:nvPr>
        </p:nvSpPr>
        <p:spPr>
          <a:xfrm>
            <a:off x="628650" y="273844"/>
            <a:ext cx="7886699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3"/>
          <p:cNvSpPr txBox="1"/>
          <p:nvPr>
            <p:ph idx="1" type="body"/>
          </p:nvPr>
        </p:nvSpPr>
        <p:spPr>
          <a:xfrm>
            <a:off x="3887390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8" name="Google Shape;108;p23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09" name="Google Shape;109;p23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3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3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4"/>
          <p:cNvSpPr/>
          <p:nvPr>
            <p:ph idx="2" type="pic"/>
          </p:nvPr>
        </p:nvSpPr>
        <p:spPr>
          <a:xfrm>
            <a:off x="3887390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4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16" name="Google Shape;116;p24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/>
          <p:nvPr>
            <p:ph type="title"/>
          </p:nvPr>
        </p:nvSpPr>
        <p:spPr>
          <a:xfrm>
            <a:off x="628650" y="273844"/>
            <a:ext cx="7886699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5"/>
          <p:cNvSpPr txBox="1"/>
          <p:nvPr>
            <p:ph idx="1" type="body"/>
          </p:nvPr>
        </p:nvSpPr>
        <p:spPr>
          <a:xfrm rot="5400000">
            <a:off x="2940248" y="-942380"/>
            <a:ext cx="3263504" cy="7886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5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5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5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 txBox="1"/>
          <p:nvPr>
            <p:ph type="title"/>
          </p:nvPr>
        </p:nvSpPr>
        <p:spPr>
          <a:xfrm rot="5400000">
            <a:off x="5350073" y="1467446"/>
            <a:ext cx="4358879" cy="1971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6"/>
          <p:cNvSpPr txBox="1"/>
          <p:nvPr>
            <p:ph idx="1" type="body"/>
          </p:nvPr>
        </p:nvSpPr>
        <p:spPr>
          <a:xfrm rot="5400000">
            <a:off x="1349572" y="-447078"/>
            <a:ext cx="4358879" cy="580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6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6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6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/>
          <p:nvPr>
            <p:ph type="ctrTitle"/>
          </p:nvPr>
        </p:nvSpPr>
        <p:spPr>
          <a:xfrm>
            <a:off x="2770350" y="1558300"/>
            <a:ext cx="35304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Play"/>
              <a:buNone/>
              <a:defRPr sz="1200">
                <a:solidFill>
                  <a:srgbClr val="0E2A47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9pPr>
          </a:lstStyle>
          <a:p/>
        </p:txBody>
      </p:sp>
      <p:sp>
        <p:nvSpPr>
          <p:cNvPr id="133" name="Google Shape;133;p27"/>
          <p:cNvSpPr txBox="1"/>
          <p:nvPr>
            <p:ph idx="1" type="subTitle"/>
          </p:nvPr>
        </p:nvSpPr>
        <p:spPr>
          <a:xfrm>
            <a:off x="2806800" y="1757550"/>
            <a:ext cx="3457499" cy="14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800"/>
              <a:buNone/>
              <a:defRPr>
                <a:solidFill>
                  <a:srgbClr val="0E2A47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None/>
              <a:defRPr sz="1200">
                <a:solidFill>
                  <a:srgbClr val="0E2A47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699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8"/>
            <a:ext cx="7886699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1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hyperlink" Target="https://www.ieee.org/about/corporate/governance/p7-8.html" TargetMode="External"/><Relationship Id="rId6" Type="http://schemas.openxmlformats.org/officeDocument/2006/relationships/hyperlink" Target="https://www.ieee.org/about/corporate/governance/p7-8.html" TargetMode="External"/><Relationship Id="rId7" Type="http://schemas.openxmlformats.org/officeDocument/2006/relationships/hyperlink" Target="https://www.geeksforgeeks.org/dbms/%20introduction-of-er-model/,%202026.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/>
          <p:nvPr/>
        </p:nvSpPr>
        <p:spPr>
          <a:xfrm>
            <a:off x="-50538" y="-120841"/>
            <a:ext cx="9312600" cy="5436600"/>
          </a:xfrm>
          <a:prstGeom prst="frame">
            <a:avLst>
              <a:gd fmla="val 12500" name="adj1"/>
            </a:avLst>
          </a:prstGeom>
          <a:solidFill>
            <a:srgbClr val="D8F2CF"/>
          </a:solidFill>
          <a:ln cap="flat" cmpd="sng" w="19050">
            <a:solidFill>
              <a:srgbClr val="0F465E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140" name="Google Shape;140;p28"/>
          <p:cNvSpPr txBox="1"/>
          <p:nvPr>
            <p:ph type="ctrTitle"/>
          </p:nvPr>
        </p:nvSpPr>
        <p:spPr>
          <a:xfrm>
            <a:off x="630114" y="608040"/>
            <a:ext cx="7883768" cy="992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30556"/>
              <a:buNone/>
            </a:pPr>
            <a:r>
              <a:rPr b="1" lang="en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APNAR DOCTOR: Web and Moblile Application</a:t>
            </a:r>
            <a:endParaRPr b="1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1" name="Google Shape;141;p28"/>
          <p:cNvSpPr txBox="1"/>
          <p:nvPr/>
        </p:nvSpPr>
        <p:spPr>
          <a:xfrm>
            <a:off x="1727861" y="1785742"/>
            <a:ext cx="56970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52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Industrial Training Defense, Spring 2026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Font typeface="Arial"/>
              <a:buNone/>
            </a:pPr>
            <a:r>
              <a:rPr b="1" i="0" lang="en" sz="1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Green University of Bangladesh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7861" y="2701275"/>
            <a:ext cx="3584502" cy="1457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ircle with a computer and graduation cap&#10;&#10;Description automatically generated" id="143" name="Google Shape;14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6583" y="2856721"/>
            <a:ext cx="1238194" cy="118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8"/>
          <p:cNvSpPr txBox="1"/>
          <p:nvPr>
            <p:ph idx="4294967295" type="sldNum"/>
          </p:nvPr>
        </p:nvSpPr>
        <p:spPr>
          <a:xfrm>
            <a:off x="853841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/>
          <p:nvPr/>
        </p:nvSpPr>
        <p:spPr>
          <a:xfrm>
            <a:off x="210723" y="196102"/>
            <a:ext cx="8722549" cy="595312"/>
          </a:xfrm>
          <a:prstGeom prst="rect">
            <a:avLst/>
          </a:prstGeom>
          <a:solidFill>
            <a:srgbClr val="81E490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9"/>
          <p:cNvSpPr/>
          <p:nvPr/>
        </p:nvSpPr>
        <p:spPr>
          <a:xfrm>
            <a:off x="210723" y="2880619"/>
            <a:ext cx="8722549" cy="2042489"/>
          </a:xfrm>
          <a:prstGeom prst="rect">
            <a:avLst/>
          </a:prstGeom>
          <a:solidFill>
            <a:srgbClr val="B3E5A0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9"/>
          <p:cNvSpPr/>
          <p:nvPr/>
        </p:nvSpPr>
        <p:spPr>
          <a:xfrm>
            <a:off x="210723" y="829135"/>
            <a:ext cx="8722550" cy="2028363"/>
          </a:xfrm>
          <a:prstGeom prst="rect">
            <a:avLst/>
          </a:prstGeom>
          <a:solidFill>
            <a:srgbClr val="D8F2CF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ecturer with solid fill" id="153" name="Google Shape;15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0079" y="1772623"/>
            <a:ext cx="1163841" cy="110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9"/>
          <p:cNvSpPr txBox="1"/>
          <p:nvPr/>
        </p:nvSpPr>
        <p:spPr>
          <a:xfrm>
            <a:off x="969226" y="3703726"/>
            <a:ext cx="333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/>
              <a:t>Ms. Fatema Akter</a:t>
            </a:r>
            <a:b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Lecturer</a:t>
            </a:r>
            <a:b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 &amp; Engineering</a:t>
            </a:r>
            <a:b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Bangladesh University of Business and Technology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9"/>
          <p:cNvSpPr txBox="1"/>
          <p:nvPr/>
        </p:nvSpPr>
        <p:spPr>
          <a:xfrm>
            <a:off x="5153920" y="3756752"/>
            <a:ext cx="296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/>
              <a:t>Mr. Montaser Abdul Quader</a:t>
            </a:r>
            <a:b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Lecturer</a:t>
            </a:r>
            <a:b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 &amp; Engineering</a:t>
            </a:r>
            <a:b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Green University of Bangladesh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9"/>
          <p:cNvSpPr txBox="1"/>
          <p:nvPr/>
        </p:nvSpPr>
        <p:spPr>
          <a:xfrm>
            <a:off x="5238460" y="1541364"/>
            <a:ext cx="36948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/>
              <a:t>Ms. Mayeesha Farjana</a:t>
            </a:r>
            <a:endParaRPr b="1" sz="1200"/>
          </a:p>
          <a:p>
            <a:pPr indent="0" lvl="0" marL="0" marR="0" rtl="0" algn="l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Lecturer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Green University of Bangladesh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een circle with a computer and graduation cap&#10;&#10;Description automatically generated" id="157" name="Google Shape;15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1581" y="35018"/>
            <a:ext cx="840836" cy="80411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58" name="Google Shape;158;p29"/>
          <p:cNvGrpSpPr/>
          <p:nvPr/>
        </p:nvGrpSpPr>
        <p:grpSpPr>
          <a:xfrm>
            <a:off x="531717" y="1136015"/>
            <a:ext cx="3756707" cy="959691"/>
            <a:chOff x="0" y="0"/>
            <a:chExt cx="3756707" cy="959691"/>
          </a:xfrm>
        </p:grpSpPr>
        <p:sp>
          <p:nvSpPr>
            <p:cNvPr id="159" name="Google Shape;159;p29"/>
            <p:cNvSpPr txBox="1"/>
            <p:nvPr/>
          </p:nvSpPr>
          <p:spPr>
            <a:xfrm>
              <a:off x="342707" y="405591"/>
              <a:ext cx="3414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Md. </a:t>
              </a:r>
              <a:r>
                <a:rPr b="1" lang="en" sz="1200"/>
                <a:t>Mahamud Hossain</a:t>
              </a:r>
              <a:r>
                <a:rPr b="1" i="0" lang="en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(ID:2220021</a:t>
              </a:r>
              <a:r>
                <a:rPr lang="en" sz="1200"/>
                <a:t>37</a:t>
              </a:r>
              <a:r>
                <a:rPr b="0" i="0" lang="en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br>
                <a:rPr b="0" i="0" lang="en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0" name="Google Shape;160;p29"/>
            <p:cNvGrpSpPr/>
            <p:nvPr/>
          </p:nvGrpSpPr>
          <p:grpSpPr>
            <a:xfrm>
              <a:off x="0" y="0"/>
              <a:ext cx="1406304" cy="679738"/>
              <a:chOff x="0" y="0"/>
              <a:chExt cx="1406304" cy="679738"/>
            </a:xfrm>
          </p:grpSpPr>
          <p:pic>
            <p:nvPicPr>
              <p:cNvPr descr="Graduation cap with solid fill" id="161" name="Google Shape;161;p2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0036" y="405591"/>
                <a:ext cx="326503" cy="27414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2" name="Google Shape;162;p29"/>
              <p:cNvSpPr/>
              <p:nvPr/>
            </p:nvSpPr>
            <p:spPr>
              <a:xfrm>
                <a:off x="0" y="0"/>
                <a:ext cx="140630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Presented By</a:t>
                </a:r>
                <a:endParaRPr b="1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3" name="Google Shape;163;p29"/>
          <p:cNvSpPr txBox="1"/>
          <p:nvPr/>
        </p:nvSpPr>
        <p:spPr>
          <a:xfrm>
            <a:off x="443192" y="2058098"/>
            <a:ext cx="3626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52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37"/>
              </a:spcBef>
              <a:spcAft>
                <a:spcPts val="0"/>
              </a:spcAft>
              <a:buClr>
                <a:srgbClr val="888888"/>
              </a:buClr>
              <a:buSzPts val="152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Green University of Bangladesh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3728055" y="2987107"/>
            <a:ext cx="19284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Board Member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9"/>
          <p:cNvSpPr/>
          <p:nvPr/>
        </p:nvSpPr>
        <p:spPr>
          <a:xfrm>
            <a:off x="5203038" y="1123100"/>
            <a:ext cx="192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Supervised By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/>
          </a:p>
        </p:txBody>
      </p:sp>
      <p:sp>
        <p:nvSpPr>
          <p:cNvPr id="166" name="Google Shape;166;p29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ctrTitle"/>
          </p:nvPr>
        </p:nvSpPr>
        <p:spPr>
          <a:xfrm>
            <a:off x="2570175" y="0"/>
            <a:ext cx="4003645" cy="992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2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Content</a:t>
            </a:r>
            <a:endParaRPr sz="260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03" y="155827"/>
            <a:ext cx="952053" cy="3915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" name="Google Shape;174;p30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green circle with a computer and graduation cap&#10;&#10;Description automatically generated" id="175" name="Google Shape;17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4341" y="42693"/>
            <a:ext cx="646017" cy="6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0"/>
          <p:cNvSpPr txBox="1"/>
          <p:nvPr/>
        </p:nvSpPr>
        <p:spPr>
          <a:xfrm>
            <a:off x="1137684" y="1754372"/>
            <a:ext cx="572031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Organization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Specific Details on Training Activities and Report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Acquired Skills During Industrial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PO-Skill Mapping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SDG–Goal Mapping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0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/>
          <p:nvPr/>
        </p:nvSpPr>
        <p:spPr>
          <a:xfrm>
            <a:off x="-74425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1"/>
          <p:cNvSpPr txBox="1"/>
          <p:nvPr>
            <p:ph type="ctrTitle"/>
          </p:nvPr>
        </p:nvSpPr>
        <p:spPr>
          <a:xfrm>
            <a:off x="2570174" y="0"/>
            <a:ext cx="4003646" cy="992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INTRODUCTION</a:t>
            </a:r>
            <a:endParaRPr sz="260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descr="A green circle with a computer and graduation cap&#10;&#10;Description automatically generated" id="184" name="Google Shape;18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4"/>
            <a:ext cx="646018" cy="617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" name="Google Shape;186;p31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7" name="Google Shape;187;p31"/>
          <p:cNvSpPr txBox="1"/>
          <p:nvPr>
            <p:ph idx="1" type="body"/>
          </p:nvPr>
        </p:nvSpPr>
        <p:spPr>
          <a:xfrm>
            <a:off x="666600" y="1559566"/>
            <a:ext cx="7810800" cy="3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800"/>
              <a:buNone/>
            </a:pPr>
            <a:r>
              <a:rPr b="1" lang="en" sz="1800">
                <a:solidFill>
                  <a:schemeClr val="dk1"/>
                </a:solidFill>
              </a:rPr>
              <a:t>Problem Domain: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Healthcare access is still inefficient and fragmented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Patients struggle with: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Finding doctors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Booking appointments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Managing medical data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Lack of centralized digital healthcare platforms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Solution:</a:t>
            </a:r>
            <a:br>
              <a:rPr b="1"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 A unified platform for patient-doctor interaction via </a:t>
            </a:r>
            <a:r>
              <a:rPr b="1" lang="en" sz="1800">
                <a:solidFill>
                  <a:schemeClr val="dk1"/>
                </a:solidFill>
              </a:rPr>
              <a:t>web &amp; mobile apps</a:t>
            </a:r>
            <a:endParaRPr b="1" sz="18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31"/>
          <p:cNvSpPr txBox="1"/>
          <p:nvPr>
            <p:ph idx="4294967295" type="sldNum"/>
          </p:nvPr>
        </p:nvSpPr>
        <p:spPr>
          <a:xfrm>
            <a:off x="8520045" y="473148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2"/>
          <p:cNvSpPr txBox="1"/>
          <p:nvPr>
            <p:ph type="ctrTitle"/>
          </p:nvPr>
        </p:nvSpPr>
        <p:spPr>
          <a:xfrm>
            <a:off x="2570174" y="0"/>
            <a:ext cx="4003646" cy="992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 of Training</a:t>
            </a:r>
            <a:endParaRPr b="1" sz="260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descr="A green circle with a computer and graduation cap&#10;&#10;Description automatically generated" id="195" name="Google Shape;19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4"/>
            <a:ext cx="646018" cy="617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" name="Google Shape;197;p32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8" name="Google Shape;198;p32"/>
          <p:cNvSpPr txBox="1"/>
          <p:nvPr>
            <p:ph idx="1" type="body"/>
          </p:nvPr>
        </p:nvSpPr>
        <p:spPr>
          <a:xfrm>
            <a:off x="623400" y="1559568"/>
            <a:ext cx="78108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Gain real-world software development experience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Understand industry workflow and collaboration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Work on a </a:t>
            </a:r>
            <a:r>
              <a:rPr b="1" lang="en" sz="1800">
                <a:solidFill>
                  <a:schemeClr val="dk1"/>
                </a:solidFill>
              </a:rPr>
              <a:t>scalable production-level system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Bridge gap between theory and real implementation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32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3"/>
          <p:cNvSpPr txBox="1"/>
          <p:nvPr>
            <p:ph type="ctrTitle"/>
          </p:nvPr>
        </p:nvSpPr>
        <p:spPr>
          <a:xfrm>
            <a:off x="2570174" y="0"/>
            <a:ext cx="4003646" cy="992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of Training</a:t>
            </a:r>
            <a:endParaRPr b="1" sz="260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descr="A green circle with a computer and graduation cap&#10;&#10;Description automatically generated" id="206" name="Google Shape;20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4"/>
            <a:ext cx="646018" cy="617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8" name="Google Shape;208;p33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9" name="Google Shape;209;p33"/>
          <p:cNvSpPr txBox="1"/>
          <p:nvPr>
            <p:ph idx="1" type="body"/>
          </p:nvPr>
        </p:nvSpPr>
        <p:spPr>
          <a:xfrm>
            <a:off x="623400" y="1559581"/>
            <a:ext cx="7810942" cy="129485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 complete product lifecycle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 modern full-stack development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scalable backend architecture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Contribute to real-world healthcare system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33"/>
          <p:cNvSpPr txBox="1"/>
          <p:nvPr>
            <p:ph idx="4294967295" type="sldNum"/>
          </p:nvPr>
        </p:nvSpPr>
        <p:spPr>
          <a:xfrm>
            <a:off x="8556784" y="476822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4"/>
          <p:cNvSpPr txBox="1"/>
          <p:nvPr>
            <p:ph type="ctrTitle"/>
          </p:nvPr>
        </p:nvSpPr>
        <p:spPr>
          <a:xfrm>
            <a:off x="1244009" y="0"/>
            <a:ext cx="6124353" cy="992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Identifying the Gap Between Academia and Industry</a:t>
            </a:r>
            <a:endParaRPr b="1" sz="200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descr="A green circle with a computer and graduation cap&#10;&#10;Description automatically generated" id="217" name="Google Shape;21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4"/>
            <a:ext cx="646018" cy="617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9" name="Google Shape;219;p34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0" name="Google Shape;220;p34"/>
          <p:cNvSpPr txBox="1"/>
          <p:nvPr>
            <p:ph idx="1" type="body"/>
          </p:nvPr>
        </p:nvSpPr>
        <p:spPr>
          <a:xfrm>
            <a:off x="666600" y="1131111"/>
            <a:ext cx="7810800" cy="43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Academia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Focus on theory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Small projects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Limited scalability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Industry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Real users &amp; real problems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Large-scale systems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Team collaboration &amp; deadlines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Internship helped bridge this gap through </a:t>
            </a:r>
            <a:r>
              <a:rPr b="1" lang="en" sz="1800">
                <a:solidFill>
                  <a:schemeClr val="dk1"/>
                </a:solidFill>
              </a:rPr>
              <a:t>practical exposure</a:t>
            </a:r>
            <a:endParaRPr b="1" sz="18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34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5"/>
          <p:cNvSpPr txBox="1"/>
          <p:nvPr>
            <p:ph type="ctrTitle"/>
          </p:nvPr>
        </p:nvSpPr>
        <p:spPr>
          <a:xfrm>
            <a:off x="1244009" y="0"/>
            <a:ext cx="6124353" cy="992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Industrial Training Details Plan</a:t>
            </a:r>
            <a:endParaRPr b="1" sz="280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descr="A green circle with a computer and graduation cap&#10;&#10;Description automatically generated" id="228" name="Google Shape;22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4"/>
            <a:ext cx="646018" cy="617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0" name="Google Shape;230;p35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1" name="Google Shape;231;p35"/>
          <p:cNvSpPr txBox="1"/>
          <p:nvPr>
            <p:ph idx="1" type="body"/>
          </p:nvPr>
        </p:nvSpPr>
        <p:spPr>
          <a:xfrm>
            <a:off x="623400" y="1559581"/>
            <a:ext cx="7810942" cy="129485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 areas completed: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Understanding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 Analysis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&amp; Planning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System Design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Setup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Implementation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project timeline is 6 months, but this covers first phase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35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 txBox="1"/>
          <p:nvPr/>
        </p:nvSpPr>
        <p:spPr>
          <a:xfrm>
            <a:off x="2271749" y="0"/>
            <a:ext cx="4600491" cy="992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0" i="0" lang="en" sz="2800" u="none" cap="none" strike="noStrike">
                <a:solidFill>
                  <a:srgbClr val="161234"/>
                </a:solidFill>
                <a:latin typeface="Roboto Black"/>
                <a:ea typeface="Roboto Black"/>
                <a:cs typeface="Roboto Black"/>
                <a:sym typeface="Roboto Black"/>
              </a:rPr>
              <a:t>Organization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een circle with a computer and graduation cap&#10;&#10;Description automatically generated" id="239" name="Google Shape;23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6" cy="6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1" name="Google Shape;241;p36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2" name="Google Shape;242;p36"/>
          <p:cNvSpPr txBox="1"/>
          <p:nvPr/>
        </p:nvSpPr>
        <p:spPr>
          <a:xfrm>
            <a:off x="914400" y="1516776"/>
            <a:ext cx="7519800" cy="17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Company: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800" u="none" cap="none" strike="noStrike">
                <a:solidFill>
                  <a:schemeClr val="dk1"/>
                </a:solidFill>
              </a:rPr>
              <a:t>Zeppelin Limited</a:t>
            </a:r>
            <a:endParaRPr b="1" i="0" sz="1800" u="none" cap="none" strike="noStrike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 development company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Focus on scalable digital solutions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Agile-based development environment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collaboration using modern tools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6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/>
          <p:cNvSpPr txBox="1"/>
          <p:nvPr/>
        </p:nvSpPr>
        <p:spPr>
          <a:xfrm>
            <a:off x="2271749" y="0"/>
            <a:ext cx="4600491" cy="992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0" i="0" lang="en" sz="2800" u="none" cap="none" strike="noStrike">
                <a:solidFill>
                  <a:srgbClr val="161234"/>
                </a:solidFill>
                <a:latin typeface="Roboto Black"/>
                <a:ea typeface="Roboto Black"/>
                <a:cs typeface="Roboto Black"/>
                <a:sym typeface="Roboto Black"/>
              </a:rPr>
              <a:t>Product(ApnarDoctor)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een circle with a computer and graduation cap&#10;&#10;Description automatically generated" id="250" name="Google Shape;25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6" cy="6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2" name="Google Shape;252;p37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3" name="Google Shape;253;p37"/>
          <p:cNvSpPr txBox="1"/>
          <p:nvPr/>
        </p:nvSpPr>
        <p:spPr>
          <a:xfrm>
            <a:off x="914400" y="1516776"/>
            <a:ext cx="7519800" cy="3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healthcare platform with: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 management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Doctor interaction system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Appointment booking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Subscription/payment system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Available as: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 App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Mobile App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7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/>
          <p:nvPr/>
        </p:nvSpPr>
        <p:spPr>
          <a:xfrm>
            <a:off x="2271749" y="0"/>
            <a:ext cx="46005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1" i="0" lang="en" sz="2800" u="none" cap="none" strike="noStrike">
                <a:solidFill>
                  <a:srgbClr val="1612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Products/Services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een circle with a computer and graduation cap&#10;&#10;Description automatically generated" id="261" name="Google Shape;26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7" cy="617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6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" name="Google Shape;263;p38"/>
          <p:cNvCxnSpPr/>
          <p:nvPr/>
        </p:nvCxnSpPr>
        <p:spPr>
          <a:xfrm>
            <a:off x="74421" y="839223"/>
            <a:ext cx="8995200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4" name="Google Shape;264;p38"/>
          <p:cNvSpPr txBox="1"/>
          <p:nvPr/>
        </p:nvSpPr>
        <p:spPr>
          <a:xfrm>
            <a:off x="2702487" y="4321587"/>
            <a:ext cx="384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1: UI/UX Of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Apnar Doctor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38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266" name="Google Shape;266;p38" title="HOm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6312" y="965738"/>
            <a:ext cx="6851426" cy="3229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9"/>
          <p:cNvSpPr txBox="1"/>
          <p:nvPr/>
        </p:nvSpPr>
        <p:spPr>
          <a:xfrm>
            <a:off x="2271749" y="0"/>
            <a:ext cx="46005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1" i="0" lang="en" sz="2800" u="none" cap="none" strike="noStrike">
                <a:solidFill>
                  <a:srgbClr val="1612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Products/Services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een circle with a computer and graduation cap&#10;&#10;Description automatically generated" id="273" name="Google Shape;27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7" cy="617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6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5" name="Google Shape;275;p39"/>
          <p:cNvCxnSpPr/>
          <p:nvPr/>
        </p:nvCxnSpPr>
        <p:spPr>
          <a:xfrm>
            <a:off x="74421" y="839223"/>
            <a:ext cx="8995200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6" name="Google Shape;276;p39"/>
          <p:cNvSpPr txBox="1"/>
          <p:nvPr/>
        </p:nvSpPr>
        <p:spPr>
          <a:xfrm>
            <a:off x="2610639" y="4652241"/>
            <a:ext cx="384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UI/UX Of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Apnar Doctor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39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278" name="Google Shape;278;p39" title="Specialist docto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425" y="889263"/>
            <a:ext cx="4936326" cy="3712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9" title="WhatsApp Image 2026-04-27 at 12.54.17 AM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13375" y="889275"/>
            <a:ext cx="3956249" cy="3629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 txBox="1"/>
          <p:nvPr/>
        </p:nvSpPr>
        <p:spPr>
          <a:xfrm>
            <a:off x="2271749" y="0"/>
            <a:ext cx="46005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1" i="0" lang="en" sz="2800" u="none" cap="none" strike="noStrike">
                <a:solidFill>
                  <a:srgbClr val="1612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Products/Services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een circle with a computer and graduation cap&#10;&#10;Description automatically generated" id="286" name="Google Shape;28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7" cy="617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6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8" name="Google Shape;288;p40"/>
          <p:cNvCxnSpPr/>
          <p:nvPr/>
        </p:nvCxnSpPr>
        <p:spPr>
          <a:xfrm>
            <a:off x="74421" y="839223"/>
            <a:ext cx="8995200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9" name="Google Shape;289;p40"/>
          <p:cNvSpPr txBox="1"/>
          <p:nvPr/>
        </p:nvSpPr>
        <p:spPr>
          <a:xfrm>
            <a:off x="2702487" y="4542023"/>
            <a:ext cx="384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UI/UX Of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Apnar Doctor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40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291" name="Google Shape;291;p40" title="Logi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287" y="839225"/>
            <a:ext cx="7849498" cy="371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1"/>
          <p:cNvSpPr txBox="1"/>
          <p:nvPr/>
        </p:nvSpPr>
        <p:spPr>
          <a:xfrm>
            <a:off x="2271749" y="0"/>
            <a:ext cx="46005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1" i="0" lang="en" sz="2800" u="none" cap="none" strike="noStrike">
                <a:solidFill>
                  <a:srgbClr val="1612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Products/Services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een circle with a computer and graduation cap&#10;&#10;Description automatically generated" id="298" name="Google Shape;29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7" cy="617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6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0" name="Google Shape;300;p41"/>
          <p:cNvCxnSpPr/>
          <p:nvPr/>
        </p:nvCxnSpPr>
        <p:spPr>
          <a:xfrm>
            <a:off x="74421" y="839223"/>
            <a:ext cx="8995200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1" name="Google Shape;301;p41"/>
          <p:cNvSpPr txBox="1"/>
          <p:nvPr/>
        </p:nvSpPr>
        <p:spPr>
          <a:xfrm>
            <a:off x="2702487" y="4615501"/>
            <a:ext cx="384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UI/UX Of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Apnar Doctor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41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303" name="Google Shape;303;p41" title="CHat vide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3536" y="1006525"/>
            <a:ext cx="7863238" cy="355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2"/>
          <p:cNvSpPr txBox="1"/>
          <p:nvPr/>
        </p:nvSpPr>
        <p:spPr>
          <a:xfrm>
            <a:off x="1274116" y="132050"/>
            <a:ext cx="63642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1" lang="en" sz="2000">
                <a:solidFill>
                  <a:srgbClr val="1612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 Details on Training — Week-wise Activities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t/>
            </a:r>
            <a:endParaRPr sz="2000">
              <a:solidFill>
                <a:srgbClr val="161234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descr="A green circle with a computer and graduation cap&#10;&#10;Description automatically generated" id="310" name="Google Shape;31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6" cy="6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2" name="Google Shape;312;p42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313" name="Google Shape;313;p42"/>
          <p:cNvGraphicFramePr/>
          <p:nvPr/>
        </p:nvGraphicFramePr>
        <p:xfrm>
          <a:off x="989239" y="11300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{B42A5578-7587-407B-82B9-178C64428658}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</a:t>
                      </a:r>
                      <a:r>
                        <a:rPr b="1"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Period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Activities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1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01 April - 06 April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Project understanding and document review, requirement analysis and task breakdown, user roles and workflow identification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2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07 April - 12 April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Private Git repository setup, database schema design, system architecture design, project structure planning and collaboration setup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3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13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April - 20 April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UI/UX design creation, module architecture setup, UI/UX review and iteration, interface improvement and final adjustments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4" name="Google Shape;314;p42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3"/>
          <p:cNvSpPr txBox="1"/>
          <p:nvPr/>
        </p:nvSpPr>
        <p:spPr>
          <a:xfrm>
            <a:off x="1560775" y="132050"/>
            <a:ext cx="66729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1" i="0" lang="en" sz="2000" u="none" cap="none" strike="noStrike">
                <a:solidFill>
                  <a:srgbClr val="1612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 Details on Training  — Contribution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een circle with a computer and graduation cap&#10;&#10;Description automatically generated" id="321" name="Google Shape;32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6" cy="6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3" name="Google Shape;323;p43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4" name="Google Shape;324;p43"/>
          <p:cNvSpPr txBox="1"/>
          <p:nvPr/>
        </p:nvSpPr>
        <p:spPr>
          <a:xfrm>
            <a:off x="914550" y="1118425"/>
            <a:ext cx="7693500" cy="21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 Key Contributions: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Built complete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MySQL schema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UI/UX Design—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ui/ux design for Apnar Doctor project 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Documentation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Finalized technical report, GitHub README and defence presentation materials.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43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4"/>
          <p:cNvSpPr txBox="1"/>
          <p:nvPr/>
        </p:nvSpPr>
        <p:spPr>
          <a:xfrm>
            <a:off x="1743740" y="132054"/>
            <a:ext cx="5021113" cy="617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0" i="0" lang="en" sz="2000" u="none" cap="none" strike="noStrike">
                <a:solidFill>
                  <a:srgbClr val="161234"/>
                </a:solidFill>
                <a:latin typeface="Roboto Black"/>
                <a:ea typeface="Roboto Black"/>
                <a:cs typeface="Roboto Black"/>
                <a:sym typeface="Roboto Black"/>
              </a:rPr>
              <a:t>Acquired Skills During Industrial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een circle with a computer and graduation cap&#10;&#10;Description automatically generated" id="332" name="Google Shape;33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6" cy="6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4" name="Google Shape;334;p44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5" name="Google Shape;335;p44"/>
          <p:cNvSpPr txBox="1"/>
          <p:nvPr/>
        </p:nvSpPr>
        <p:spPr>
          <a:xfrm>
            <a:off x="914550" y="1131101"/>
            <a:ext cx="7519800" cy="3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Technical Skills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Backend API development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design (Prisma)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Validation using Zod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RESTful architecture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Professional Skills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communication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Requirement analysis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Problem-solving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Agile workflow understanding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4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5"/>
          <p:cNvSpPr txBox="1"/>
          <p:nvPr/>
        </p:nvSpPr>
        <p:spPr>
          <a:xfrm>
            <a:off x="3615071" y="132054"/>
            <a:ext cx="3646967" cy="617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0" i="0" lang="en" sz="2000" u="none" cap="none" strike="noStrike">
                <a:solidFill>
                  <a:srgbClr val="161234"/>
                </a:solidFill>
                <a:latin typeface="Roboto Black"/>
                <a:ea typeface="Roboto Black"/>
                <a:cs typeface="Roboto Black"/>
                <a:sym typeface="Roboto Black"/>
              </a:rPr>
              <a:t>PO-Skill Mapping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een circle with a computer and graduation cap&#10;&#10;Description automatically generated" id="343" name="Google Shape;34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6" cy="6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5" name="Google Shape;345;p45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6" name="Google Shape;346;p45"/>
          <p:cNvSpPr txBox="1"/>
          <p:nvPr/>
        </p:nvSpPr>
        <p:spPr>
          <a:xfrm>
            <a:off x="914400" y="1516774"/>
            <a:ext cx="75198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PO1: Engineering Knowledge</a:t>
            </a: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System Design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PO2: Problem Analysis</a:t>
            </a: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Requirement Analysis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PO3: Design Solutions</a:t>
            </a: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Architecture Planning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PO5: Modern Tools Usage</a:t>
            </a: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Prisma, Postman, Git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PO5: API Development </a:t>
            </a: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TypeScrip, NodeJs, ExpressJs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5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6"/>
          <p:cNvSpPr txBox="1"/>
          <p:nvPr/>
        </p:nvSpPr>
        <p:spPr>
          <a:xfrm>
            <a:off x="3615071" y="132054"/>
            <a:ext cx="3646967" cy="617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1" i="0" lang="en" sz="2000" u="none" cap="none" strike="noStrike">
                <a:solidFill>
                  <a:srgbClr val="1612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SDG–Goal Mapping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een circle with a computer and graduation cap&#10;&#10;Description automatically generated" id="354" name="Google Shape;35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6" cy="6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6" name="Google Shape;356;p46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7" name="Google Shape;357;p46"/>
          <p:cNvSpPr txBox="1"/>
          <p:nvPr/>
        </p:nvSpPr>
        <p:spPr>
          <a:xfrm>
            <a:off x="657225" y="863068"/>
            <a:ext cx="80274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✅ Fully Fulfilled</a:t>
            </a:r>
            <a:endParaRPr b="1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 4</a:t>
            </a:r>
            <a:r>
              <a:rPr b="0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Quality Education — Structured 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-week technical training in 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 , </a:t>
            </a:r>
            <a:r>
              <a:rPr b="0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MySQL [1].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 16</a:t>
            </a:r>
            <a:r>
              <a:rPr b="0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Peace, Justice &amp; Strong Institutions — SQL security, ethical conduct &amp; transparent documentation [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].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 17</a:t>
            </a:r>
            <a:r>
              <a:rPr b="0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Partnerships for Goals — University-industry internship, 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eam collaboration.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 3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Good Health &amp; Well-being — Maintained healthy work-life balance.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⚡ Partially Fulfilled</a:t>
            </a:r>
            <a:endParaRPr b="1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 5</a:t>
            </a:r>
            <a:r>
              <a:rPr b="0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Gender Equality — App accessible to all investors regardless of gender.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❌ Not Fulfilled</a:t>
            </a:r>
            <a:endParaRPr b="1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 2, 6, 7, 10</a:t>
            </a: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1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13, 14, 15</a:t>
            </a:r>
            <a:r>
              <a:rPr b="0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Not relevant to software development internship scope.</a:t>
            </a:r>
            <a:endParaRPr b="1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46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7"/>
          <p:cNvSpPr txBox="1"/>
          <p:nvPr/>
        </p:nvSpPr>
        <p:spPr>
          <a:xfrm>
            <a:off x="3615071" y="132054"/>
            <a:ext cx="3646967" cy="617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0" i="0" lang="en" sz="2000" u="none" cap="none" strike="noStrike">
                <a:solidFill>
                  <a:srgbClr val="161234"/>
                </a:solidFill>
                <a:latin typeface="Roboto Black"/>
                <a:ea typeface="Roboto Black"/>
                <a:cs typeface="Roboto Black"/>
                <a:sym typeface="Roboto Black"/>
              </a:rPr>
              <a:t>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een circle with a computer and graduation cap&#10;&#10;Description automatically generated" id="365" name="Google Shape;36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6" cy="6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7" name="Google Shape;367;p47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8" name="Google Shape;368;p47"/>
          <p:cNvSpPr txBox="1"/>
          <p:nvPr/>
        </p:nvSpPr>
        <p:spPr>
          <a:xfrm>
            <a:off x="914400" y="1516776"/>
            <a:ext cx="75198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Successfully completed </a:t>
            </a: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 phase (90 hours)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Gained real industry experience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Built strong foundation for full 6-month project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Ready to continue development at production level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7"/>
          <p:cNvSpPr txBox="1"/>
          <p:nvPr>
            <p:ph idx="4294967295" type="sldNum"/>
          </p:nvPr>
        </p:nvSpPr>
        <p:spPr>
          <a:xfrm>
            <a:off x="8709184" y="4902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8"/>
          <p:cNvSpPr txBox="1"/>
          <p:nvPr/>
        </p:nvSpPr>
        <p:spPr>
          <a:xfrm>
            <a:off x="3615071" y="132054"/>
            <a:ext cx="3646967" cy="617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0" i="0" lang="en" sz="2000" u="none" cap="none" strike="noStrike">
                <a:solidFill>
                  <a:srgbClr val="161234"/>
                </a:solidFill>
                <a:latin typeface="Roboto Black"/>
                <a:ea typeface="Roboto Black"/>
                <a:cs typeface="Roboto Black"/>
                <a:sym typeface="Roboto Black"/>
              </a:rPr>
              <a:t>Reference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een circle with a computer and graduation cap&#10;&#10;Description automatically generated" id="376" name="Google Shape;37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6" cy="6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8" name="Google Shape;378;p48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9" name="Google Shape;379;p48"/>
          <p:cNvSpPr txBox="1"/>
          <p:nvPr/>
        </p:nvSpPr>
        <p:spPr>
          <a:xfrm>
            <a:off x="624575" y="1131100"/>
            <a:ext cx="814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United Nations, "Transforming Our World: The 2030 Agenda for Sustainable Development," Resolution A/RES/70/1, 2015.</a:t>
            </a:r>
            <a:endParaRPr sz="1800"/>
          </a:p>
        </p:txBody>
      </p:sp>
      <p:sp>
        <p:nvSpPr>
          <p:cNvPr id="380" name="Google Shape;380;p48"/>
          <p:cNvSpPr txBox="1"/>
          <p:nvPr/>
        </p:nvSpPr>
        <p:spPr>
          <a:xfrm>
            <a:off x="606207" y="1870000"/>
            <a:ext cx="814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IEEE, "IEEE Code of Ethics," </a:t>
            </a:r>
            <a:r>
              <a:rPr i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Policies, Section 7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2020. [Online]. Available:</a:t>
            </a:r>
            <a:r>
              <a:rPr lang="en" sz="1800">
                <a:solidFill>
                  <a:schemeClr val="hlink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 </a:t>
            </a:r>
            <a:r>
              <a:rPr lang="en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https://www.ieee.org/about/corporate/governance/p7-8.html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/>
          </a:p>
        </p:txBody>
      </p:sp>
      <p:sp>
        <p:nvSpPr>
          <p:cNvPr id="381" name="Google Shape;381;p48"/>
          <p:cNvSpPr txBox="1"/>
          <p:nvPr/>
        </p:nvSpPr>
        <p:spPr>
          <a:xfrm>
            <a:off x="606200" y="2755452"/>
            <a:ext cx="814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[3]</a:t>
            </a:r>
            <a:r>
              <a:rPr lang="en" sz="1800"/>
              <a:t>GeeksforGeeks. Introduction of ER model. Accessed: 2026-04-02.</a:t>
            </a:r>
            <a:r>
              <a:rPr lang="en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https://www.geeksforgeeks.org/dbms/ introduction-of-er-model/, 2026.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